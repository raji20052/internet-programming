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Freeform 2"/>
          <p:cNvSpPr/>
          <p:nvPr/>
        </p:nvSpPr>
        <p:spPr>
          <a:xfrm>
            <a:off x="1028699" y="859647"/>
            <a:ext cx="16129831" cy="2076718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Box 3"/>
          <p:cNvSpPr txBox="1"/>
          <p:nvPr/>
        </p:nvSpPr>
        <p:spPr>
          <a:xfrm>
            <a:off x="899004" y="5808190"/>
            <a:ext cx="16389220" cy="659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5400"/>
              </a:lnSpc>
              <a:defRPr sz="3800">
                <a:solidFill>
                  <a:srgbClr val="21577C"/>
                </a:solidFill>
                <a:latin typeface="Antic Bold"/>
                <a:ea typeface="Antic Bold"/>
                <a:cs typeface="Antic Bold"/>
                <a:sym typeface="Antic Bold"/>
              </a:defRPr>
            </a:lvl1pPr>
          </a:lstStyle>
          <a:p>
            <a:pPr/>
            <a:r>
              <a:t>CSA4304 - INTERNET PROGRAMMING</a:t>
            </a:r>
          </a:p>
        </p:txBody>
      </p:sp>
      <p:sp>
        <p:nvSpPr>
          <p:cNvPr id="96" name="TextBox 4"/>
          <p:cNvSpPr txBox="1"/>
          <p:nvPr/>
        </p:nvSpPr>
        <p:spPr>
          <a:xfrm>
            <a:off x="12724111" y="7979687"/>
            <a:ext cx="8224867" cy="127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100"/>
              </a:lnSpc>
              <a:defRPr sz="3600">
                <a:solidFill>
                  <a:srgbClr val="2F4B89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Faculty:     </a:t>
            </a:r>
          </a:p>
          <a:p>
            <a:pPr>
              <a:lnSpc>
                <a:spcPts val="5100"/>
              </a:lnSpc>
              <a:defRPr sz="3600">
                <a:solidFill>
                  <a:srgbClr val="2F4B89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Dr. Jaya Mabel Rani</a:t>
            </a:r>
          </a:p>
        </p:txBody>
      </p:sp>
      <p:sp>
        <p:nvSpPr>
          <p:cNvPr id="97" name="TextBox 5"/>
          <p:cNvSpPr txBox="1"/>
          <p:nvPr/>
        </p:nvSpPr>
        <p:spPr>
          <a:xfrm>
            <a:off x="899005" y="7655828"/>
            <a:ext cx="10298004" cy="1918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5100"/>
              </a:lnSpc>
              <a:defRPr sz="3600">
                <a:solidFill>
                  <a:srgbClr val="2F4B89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Presented by, </a:t>
            </a:r>
          </a:p>
          <a:p>
            <a:pPr>
              <a:lnSpc>
                <a:spcPts val="5100"/>
              </a:lnSpc>
              <a:defRPr sz="3600">
                <a:solidFill>
                  <a:srgbClr val="2F4B89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Rajeswari (192311072)</a:t>
            </a:r>
          </a:p>
          <a:p>
            <a:pPr>
              <a:lnSpc>
                <a:spcPts val="5100"/>
              </a:lnSpc>
              <a:defRPr sz="3600">
                <a:solidFill>
                  <a:srgbClr val="2F4B89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Fathi Muthu Johara M (192411009) 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430622" y="3779549"/>
            <a:ext cx="17426756" cy="1814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7200"/>
              </a:lnSpc>
              <a:defRPr sz="5100">
                <a:solidFill>
                  <a:srgbClr val="21577C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t>Web-Based Smart Campus Navigation System </a:t>
            </a:r>
          </a:p>
          <a:p>
            <a:pPr algn="ctr">
              <a:lnSpc>
                <a:spcPts val="7200"/>
              </a:lnSpc>
              <a:defRPr sz="5100">
                <a:solidFill>
                  <a:srgbClr val="21577C"/>
                </a:solidFill>
                <a:latin typeface="Futura Bold"/>
                <a:ea typeface="Futura Bold"/>
                <a:cs typeface="Futura Bold"/>
                <a:sym typeface="Futura Bold"/>
              </a:defRPr>
            </a:pPr>
            <a:r>
              <a:t>and Accessibility Planner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2"/>
          <p:cNvSpPr txBox="1"/>
          <p:nvPr/>
        </p:nvSpPr>
        <p:spPr>
          <a:xfrm>
            <a:off x="3755114" y="866774"/>
            <a:ext cx="10140865" cy="1434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1700"/>
              </a:lnSpc>
              <a:defRPr b="1" sz="84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01" name="Freeform 3"/>
          <p:cNvSpPr/>
          <p:nvPr/>
        </p:nvSpPr>
        <p:spPr>
          <a:xfrm>
            <a:off x="509919" y="507536"/>
            <a:ext cx="1762677" cy="179670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2" name="Freeform 4"/>
          <p:cNvSpPr/>
          <p:nvPr/>
        </p:nvSpPr>
        <p:spPr>
          <a:xfrm>
            <a:off x="15766361" y="440106"/>
            <a:ext cx="1668157" cy="193156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3" name="TextBox 5"/>
          <p:cNvSpPr txBox="1"/>
          <p:nvPr/>
        </p:nvSpPr>
        <p:spPr>
          <a:xfrm>
            <a:off x="509919" y="2703509"/>
            <a:ext cx="17778082" cy="69533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811850" indent="-405925">
              <a:lnSpc>
                <a:spcPts val="5500"/>
              </a:lnSpc>
              <a:buSzPct val="100000"/>
              <a:buFont typeface="Arial"/>
              <a:buChar char="•"/>
              <a:defRPr spc="195" sz="37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Provides a web-based platform for students, faculty, and visitors to easily locate buildings, classrooms, laboratories, and other campus facilities.</a:t>
            </a:r>
          </a:p>
          <a:p>
            <a:pPr>
              <a:lnSpc>
                <a:spcPts val="5500"/>
              </a:lnSpc>
              <a:defRPr spc="195" sz="37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11850" indent="-405925">
              <a:lnSpc>
                <a:spcPts val="5500"/>
              </a:lnSpc>
              <a:buSzPct val="100000"/>
              <a:buFont typeface="Arial"/>
              <a:buChar char="•"/>
              <a:defRPr spc="195" sz="37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Offers smart route guidance between selected locations using an interactive campus map.</a:t>
            </a:r>
          </a:p>
          <a:p>
            <a:pPr>
              <a:lnSpc>
                <a:spcPts val="5500"/>
              </a:lnSpc>
              <a:defRPr spc="195" sz="37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11850" indent="-405925">
              <a:lnSpc>
                <a:spcPts val="5500"/>
              </a:lnSpc>
              <a:buSzPct val="100000"/>
              <a:buFont typeface="Arial"/>
              <a:buChar char="•"/>
              <a:defRPr spc="195" sz="37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Supports accessibility-aware navigation by considering ramps, elevators, stairs, and other accessibility facilities when suggesting routes.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Box 2"/>
          <p:cNvSpPr txBox="1"/>
          <p:nvPr/>
        </p:nvSpPr>
        <p:spPr>
          <a:xfrm>
            <a:off x="665957" y="1305829"/>
            <a:ext cx="16593344" cy="88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900"/>
              </a:lnSpc>
              <a:defRPr b="1" sz="64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MODULES</a:t>
            </a:r>
          </a:p>
        </p:txBody>
      </p:sp>
      <p:sp>
        <p:nvSpPr>
          <p:cNvPr id="106" name="Freeform 3"/>
          <p:cNvSpPr/>
          <p:nvPr/>
        </p:nvSpPr>
        <p:spPr>
          <a:xfrm>
            <a:off x="509919" y="507537"/>
            <a:ext cx="1454214" cy="148228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Box 5"/>
          <p:cNvSpPr txBox="1"/>
          <p:nvPr/>
        </p:nvSpPr>
        <p:spPr>
          <a:xfrm>
            <a:off x="2505294" y="4086802"/>
            <a:ext cx="17287114" cy="31272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8400"/>
              </a:lnSpc>
              <a:defRPr sz="4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Module 1: Smart Campus Navigation</a:t>
            </a:r>
          </a:p>
          <a:p>
            <a:pPr>
              <a:lnSpc>
                <a:spcPts val="8400"/>
              </a:lnSpc>
              <a:defRPr sz="4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Module 2: Accessibility Planning &amp; Management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2"/>
          <p:cNvSpPr txBox="1"/>
          <p:nvPr/>
        </p:nvSpPr>
        <p:spPr>
          <a:xfrm>
            <a:off x="1028699" y="846221"/>
            <a:ext cx="15662661" cy="835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500"/>
              </a:lnSpc>
              <a:defRPr b="1" sz="60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LITERATURE REVIEW</a:t>
            </a:r>
          </a:p>
        </p:txBody>
      </p:sp>
      <p:sp>
        <p:nvSpPr>
          <p:cNvPr id="111" name="Freeform 3"/>
          <p:cNvSpPr/>
          <p:nvPr/>
        </p:nvSpPr>
        <p:spPr>
          <a:xfrm>
            <a:off x="509919" y="507537"/>
            <a:ext cx="1454214" cy="148228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Freeform 5"/>
          <p:cNvSpPr/>
          <p:nvPr/>
        </p:nvSpPr>
        <p:spPr>
          <a:xfrm>
            <a:off x="1537110" y="2213045"/>
            <a:ext cx="15722191" cy="7798953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2"/>
          <p:cNvSpPr txBox="1"/>
          <p:nvPr/>
        </p:nvSpPr>
        <p:spPr>
          <a:xfrm>
            <a:off x="665957" y="1305829"/>
            <a:ext cx="16593344" cy="88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900"/>
              </a:lnSpc>
              <a:defRPr b="1" sz="64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16" name="Freeform 3"/>
          <p:cNvSpPr/>
          <p:nvPr/>
        </p:nvSpPr>
        <p:spPr>
          <a:xfrm>
            <a:off x="509919" y="507537"/>
            <a:ext cx="1454214" cy="148228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Box 5"/>
          <p:cNvSpPr txBox="1"/>
          <p:nvPr/>
        </p:nvSpPr>
        <p:spPr>
          <a:xfrm>
            <a:off x="2458321" y="3355590"/>
            <a:ext cx="17287114" cy="4530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842008" indent="-421004">
              <a:lnSpc>
                <a:spcPts val="6000"/>
              </a:lnSpc>
              <a:buSzPct val="100000"/>
              <a:buFont typeface="Arial"/>
              <a:buChar char="•"/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Difficulty in navigating large campuses</a:t>
            </a:r>
          </a:p>
          <a:p>
            <a:pPr>
              <a:lnSpc>
                <a:spcPts val="6000"/>
              </a:lnSpc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42008" indent="-421004">
              <a:lnSpc>
                <a:spcPts val="6000"/>
              </a:lnSpc>
              <a:buSzPct val="100000"/>
              <a:buFont typeface="Arial"/>
              <a:buChar char="•"/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Lack of accessibility-aware navigation</a:t>
            </a:r>
          </a:p>
          <a:p>
            <a:pPr>
              <a:lnSpc>
                <a:spcPts val="6000"/>
              </a:lnSpc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42008" indent="-421004">
              <a:lnSpc>
                <a:spcPts val="6000"/>
              </a:lnSpc>
              <a:buSzPct val="100000"/>
              <a:buFont typeface="Arial"/>
              <a:buChar char="•"/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Limited centralized campus information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Box 2"/>
          <p:cNvSpPr txBox="1"/>
          <p:nvPr/>
        </p:nvSpPr>
        <p:spPr>
          <a:xfrm>
            <a:off x="509920" y="2933385"/>
            <a:ext cx="16966024" cy="6146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Develop a web-based interactive campus map that allows users to search for buildings, classrooms, laboratories, and other campus facilities.</a:t>
            </a:r>
          </a:p>
          <a:p>
            <a:pPr>
              <a:lnSpc>
                <a:spcPts val="5400"/>
              </a:lnSpc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Provide smart route planning to calculate suitable paths between the user's current/selected location and destination.</a:t>
            </a:r>
          </a:p>
          <a:p>
            <a:pPr>
              <a:lnSpc>
                <a:spcPts val="5400"/>
              </a:lnSpc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3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Include accessibility-aware navigation that considers ramps, elevators, stairs, and blocked pathways to provide suitable routes for different users.</a:t>
            </a:r>
          </a:p>
        </p:txBody>
      </p:sp>
      <p:sp>
        <p:nvSpPr>
          <p:cNvPr id="121" name="Freeform 3"/>
          <p:cNvSpPr/>
          <p:nvPr/>
        </p:nvSpPr>
        <p:spPr>
          <a:xfrm>
            <a:off x="509919" y="507536"/>
            <a:ext cx="1982382" cy="2020653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Freeform 4"/>
          <p:cNvSpPr/>
          <p:nvPr/>
        </p:nvSpPr>
        <p:spPr>
          <a:xfrm>
            <a:off x="16184683" y="678197"/>
            <a:ext cx="1459333" cy="1689768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Box 5"/>
          <p:cNvSpPr txBox="1"/>
          <p:nvPr/>
        </p:nvSpPr>
        <p:spPr>
          <a:xfrm>
            <a:off x="3783915" y="925119"/>
            <a:ext cx="10720172" cy="1281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10800"/>
              </a:lnSpc>
              <a:defRPr b="1" sz="63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PROPOSED SYSTEM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2"/>
          <p:cNvSpPr txBox="1"/>
          <p:nvPr/>
        </p:nvSpPr>
        <p:spPr>
          <a:xfrm>
            <a:off x="1964132" y="867421"/>
            <a:ext cx="14671427" cy="7833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100"/>
              </a:lnSpc>
              <a:defRPr b="1" sz="56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SYSTEM ARCHITECTURE</a:t>
            </a:r>
          </a:p>
        </p:txBody>
      </p:sp>
      <p:sp>
        <p:nvSpPr>
          <p:cNvPr id="126" name="Freeform 3"/>
          <p:cNvSpPr/>
          <p:nvPr/>
        </p:nvSpPr>
        <p:spPr>
          <a:xfrm>
            <a:off x="509919" y="507537"/>
            <a:ext cx="1454214" cy="148228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7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Freeform 5"/>
          <p:cNvSpPr/>
          <p:nvPr/>
        </p:nvSpPr>
        <p:spPr>
          <a:xfrm>
            <a:off x="4058042" y="1782573"/>
            <a:ext cx="10194389" cy="8002059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Freeform 2"/>
          <p:cNvSpPr/>
          <p:nvPr/>
        </p:nvSpPr>
        <p:spPr>
          <a:xfrm>
            <a:off x="509920" y="507536"/>
            <a:ext cx="1354295" cy="138044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Freeform 3"/>
          <p:cNvSpPr/>
          <p:nvPr/>
        </p:nvSpPr>
        <p:spPr>
          <a:xfrm>
            <a:off x="16395005" y="507536"/>
            <a:ext cx="1192189" cy="13804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2" name="TextBox 4"/>
          <p:cNvSpPr txBox="1"/>
          <p:nvPr/>
        </p:nvSpPr>
        <p:spPr>
          <a:xfrm>
            <a:off x="1089945" y="584210"/>
            <a:ext cx="16108110" cy="20954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8400"/>
              </a:lnSpc>
              <a:defRPr b="1" sz="60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pPr>
            <a:r>
              <a:t>Module 1: Smart Campus</a:t>
            </a:r>
          </a:p>
          <a:p>
            <a:pPr algn="ctr">
              <a:lnSpc>
                <a:spcPts val="8400"/>
              </a:lnSpc>
              <a:defRPr b="1" sz="60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pPr>
            <a:r>
              <a:t> Navigation</a:t>
            </a:r>
          </a:p>
        </p:txBody>
      </p:sp>
      <p:sp>
        <p:nvSpPr>
          <p:cNvPr id="133" name="TextBox 5"/>
          <p:cNvSpPr txBox="1"/>
          <p:nvPr/>
        </p:nvSpPr>
        <p:spPr>
          <a:xfrm>
            <a:off x="1258666" y="3232983"/>
            <a:ext cx="15939390" cy="5816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879325" indent="-439662">
              <a:lnSpc>
                <a:spcPts val="66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Interactive campus map with buildings, classrooms, labs, library, cafeteria, etc.</a:t>
            </a:r>
          </a:p>
          <a:p>
            <a:pPr lvl="1" marL="879325" indent="-439662">
              <a:lnSpc>
                <a:spcPts val="66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Search and locate campus facilities.</a:t>
            </a:r>
          </a:p>
          <a:p>
            <a:pPr lvl="1" marL="879325" indent="-439662">
              <a:lnSpc>
                <a:spcPts val="66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Select source and destination.</a:t>
            </a:r>
          </a:p>
          <a:p>
            <a:pPr lvl="1" marL="879325" indent="-439662">
              <a:lnSpc>
                <a:spcPts val="66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Generate the shortest/suitable route.</a:t>
            </a:r>
          </a:p>
          <a:p>
            <a:pPr lvl="1" marL="879325" indent="-439662">
              <a:lnSpc>
                <a:spcPts val="66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Display distance and estimated walking time.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Freeform 2"/>
          <p:cNvSpPr/>
          <p:nvPr/>
        </p:nvSpPr>
        <p:spPr>
          <a:xfrm>
            <a:off x="509919" y="507537"/>
            <a:ext cx="1581026" cy="161154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Freeform 3"/>
          <p:cNvSpPr/>
          <p:nvPr/>
        </p:nvSpPr>
        <p:spPr>
          <a:xfrm>
            <a:off x="16289931" y="507536"/>
            <a:ext cx="1514019" cy="175309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7" name="TextBox 4"/>
          <p:cNvSpPr txBox="1"/>
          <p:nvPr/>
        </p:nvSpPr>
        <p:spPr>
          <a:xfrm>
            <a:off x="3917551" y="737735"/>
            <a:ext cx="10819687" cy="29728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7900"/>
              </a:lnSpc>
              <a:defRPr b="1" sz="56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pPr>
            <a:r>
              <a:t>Module 2: Accessibility Planning </a:t>
            </a:r>
          </a:p>
          <a:p>
            <a:pPr algn="ctr">
              <a:lnSpc>
                <a:spcPts val="7900"/>
              </a:lnSpc>
              <a:defRPr b="1" sz="56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pPr>
            <a:r>
              <a:t>&amp; Management</a:t>
            </a:r>
          </a:p>
        </p:txBody>
      </p:sp>
      <p:sp>
        <p:nvSpPr>
          <p:cNvPr id="138" name="TextBox 5"/>
          <p:cNvSpPr txBox="1"/>
          <p:nvPr/>
        </p:nvSpPr>
        <p:spPr>
          <a:xfrm>
            <a:off x="1300433" y="3847931"/>
            <a:ext cx="17122152" cy="51315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906780" indent="-453390">
              <a:lnSpc>
                <a:spcPts val="68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Provide accessibility-friendly routes.</a:t>
            </a:r>
          </a:p>
          <a:p>
            <a:pPr lvl="1" marL="906780" indent="-453390">
              <a:lnSpc>
                <a:spcPts val="68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Consider ramps, elevators, stairs, and accessible entrances.</a:t>
            </a:r>
          </a:p>
          <a:p>
            <a:pPr lvl="1" marL="906780" indent="-453390">
              <a:lnSpc>
                <a:spcPts val="68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Allow users to select accessibility preferences.</a:t>
            </a:r>
          </a:p>
          <a:p>
            <a:pPr lvl="1" marL="906780" indent="-453390">
              <a:lnSpc>
                <a:spcPts val="68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Admin can update accessibility facilities and blocked pathways.</a:t>
            </a:r>
          </a:p>
          <a:p>
            <a:pPr lvl="1" marL="906780" indent="-453390">
              <a:lnSpc>
                <a:spcPts val="68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Suggest alternative routes when a pathway is unavailable.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Box 2"/>
          <p:cNvSpPr txBox="1"/>
          <p:nvPr/>
        </p:nvSpPr>
        <p:spPr>
          <a:xfrm>
            <a:off x="665957" y="1305829"/>
            <a:ext cx="16593344" cy="88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900"/>
              </a:lnSpc>
              <a:defRPr b="1" sz="64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SDG GOALS</a:t>
            </a:r>
          </a:p>
        </p:txBody>
      </p:sp>
      <p:sp>
        <p:nvSpPr>
          <p:cNvPr id="141" name="Freeform 3"/>
          <p:cNvSpPr/>
          <p:nvPr/>
        </p:nvSpPr>
        <p:spPr>
          <a:xfrm>
            <a:off x="509919" y="507537"/>
            <a:ext cx="1454214" cy="148228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Rectangle 1"/>
          <p:cNvSpPr txBox="1"/>
          <p:nvPr/>
        </p:nvSpPr>
        <p:spPr>
          <a:xfrm>
            <a:off x="45720" y="-175331"/>
            <a:ext cx="231165" cy="350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>
              <a:defRPr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. </a:t>
            </a:r>
          </a:p>
        </p:txBody>
      </p:sp>
      <p:sp>
        <p:nvSpPr>
          <p:cNvPr id="144" name="TextBox 8"/>
          <p:cNvSpPr txBox="1"/>
          <p:nvPr/>
        </p:nvSpPr>
        <p:spPr>
          <a:xfrm>
            <a:off x="3267074" y="3467100"/>
            <a:ext cx="11753852" cy="43436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buSzPct val="100000"/>
              <a:buChar char="•"/>
              <a:defRPr b="1" sz="36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SDG 4 – Quality Education:</a:t>
            </a:r>
            <a:r>
              <a:rPr b="0"/>
              <a:t> Easy access to educational facilities. </a:t>
            </a:r>
            <a:endParaRPr b="0"/>
          </a:p>
          <a:p>
            <a:pPr>
              <a:buSzPct val="100000"/>
              <a:buChar char="•"/>
              <a:defRPr sz="36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buSzPct val="100000"/>
              <a:buChar char="•"/>
              <a:defRPr b="1" sz="36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SDG 10 – Reduced Inequalities:</a:t>
            </a:r>
            <a:r>
              <a:rPr b="0"/>
              <a:t> Supports accessible navigation for users with mobility needs. </a:t>
            </a:r>
            <a:endParaRPr b="0"/>
          </a:p>
          <a:p>
            <a:pPr>
              <a:buSzPct val="100000"/>
              <a:buChar char="•"/>
              <a:defRPr sz="36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buSzPct val="100000"/>
              <a:buChar char="•"/>
              <a:defRPr b="1" sz="3600">
                <a:solidFill>
                  <a:srgbClr val="1F497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SDG 11 – Sustainable Cities and Communities:</a:t>
            </a:r>
            <a:r>
              <a:rPr b="0"/>
              <a:t> Promotes an inclusive and accessible campus.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2"/>
          <p:cNvSpPr txBox="1"/>
          <p:nvPr/>
        </p:nvSpPr>
        <p:spPr>
          <a:xfrm>
            <a:off x="665957" y="1305829"/>
            <a:ext cx="16593344" cy="8879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6900"/>
              </a:lnSpc>
              <a:defRPr b="1" sz="64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IEEE STANDARDS USED</a:t>
            </a:r>
          </a:p>
        </p:txBody>
      </p:sp>
      <p:sp>
        <p:nvSpPr>
          <p:cNvPr id="147" name="Freeform 3"/>
          <p:cNvSpPr/>
          <p:nvPr/>
        </p:nvSpPr>
        <p:spPr>
          <a:xfrm>
            <a:off x="509919" y="507537"/>
            <a:ext cx="1454214" cy="1482286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Box 5"/>
          <p:cNvSpPr txBox="1"/>
          <p:nvPr/>
        </p:nvSpPr>
        <p:spPr>
          <a:xfrm>
            <a:off x="707962" y="3163822"/>
            <a:ext cx="17287115" cy="63276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036319" indent="-518159">
              <a:lnSpc>
                <a:spcPts val="8400"/>
              </a:lnSpc>
              <a:buSzPct val="100000"/>
              <a:buFont typeface="Arial"/>
              <a:buChar char="•"/>
              <a:defRPr sz="4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IEEE/ISO/IEC 23026-2023 – Website Engineering</a:t>
            </a:r>
          </a:p>
          <a:p>
            <a:pPr lvl="1" marL="1036319" indent="-518159">
              <a:lnSpc>
                <a:spcPts val="8400"/>
              </a:lnSpc>
              <a:buSzPct val="100000"/>
              <a:buFont typeface="Arial"/>
              <a:buChar char="•"/>
              <a:defRPr sz="4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IEEE 1012-2024 – Verification and Validation</a:t>
            </a:r>
          </a:p>
          <a:p>
            <a:pPr lvl="1" marL="1036319" indent="-518159">
              <a:lnSpc>
                <a:spcPts val="8400"/>
              </a:lnSpc>
              <a:buSzPct val="100000"/>
              <a:buFont typeface="Arial"/>
              <a:buChar char="•"/>
              <a:defRPr sz="4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IEEE P2998 – Accessible Applications</a:t>
            </a:r>
          </a:p>
          <a:p>
            <a:pPr lvl="1" marL="1036319" indent="-518159">
              <a:lnSpc>
                <a:spcPts val="8400"/>
              </a:lnSpc>
              <a:buSzPct val="100000"/>
              <a:buFont typeface="Arial"/>
              <a:buChar char="•"/>
              <a:defRPr sz="4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IEEE 830 – Software Requirements Specification</a:t>
            </a:r>
          </a:p>
          <a:p>
            <a:pPr>
              <a:lnSpc>
                <a:spcPts val="8400"/>
              </a:lnSpc>
              <a:defRPr sz="48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Freeform 3"/>
          <p:cNvSpPr/>
          <p:nvPr/>
        </p:nvSpPr>
        <p:spPr>
          <a:xfrm>
            <a:off x="509919" y="507536"/>
            <a:ext cx="1454214" cy="148228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APPLICATIONS"/>
          <p:cNvSpPr txBox="1"/>
          <p:nvPr/>
        </p:nvSpPr>
        <p:spPr>
          <a:xfrm>
            <a:off x="5956313" y="1136199"/>
            <a:ext cx="6095366" cy="9794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6900"/>
              </a:lnSpc>
              <a:defRPr b="1" sz="64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APPLICATIONS</a:t>
            </a:r>
          </a:p>
        </p:txBody>
      </p:sp>
      <p:sp>
        <p:nvSpPr>
          <p:cNvPr id="154" name="Helps students, faculty and visitors locate campus buildings and facilities.…"/>
          <p:cNvSpPr txBox="1"/>
          <p:nvPr/>
        </p:nvSpPr>
        <p:spPr>
          <a:xfrm>
            <a:off x="64112" y="3029988"/>
            <a:ext cx="17879769" cy="624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Helps students, faculty and visitors locate campus buildings and facilities.</a:t>
            </a:r>
          </a:p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 Provides routes between classrooms, laboratories, libraries and other locations.</a:t>
            </a:r>
          </a:p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Supports wheelchair users by identifying accessible routes with ramps and elevators.</a:t>
            </a:r>
          </a:p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 Helps new students and visitors navigate unfamiliar campus areas.</a:t>
            </a:r>
          </a:p>
          <a:p>
            <a:pPr lvl="1" marL="842008" indent="-421004">
              <a:lnSpc>
                <a:spcPts val="5400"/>
              </a:lnSpc>
              <a:buSzPct val="100000"/>
              <a:buFont typeface="Arial"/>
              <a:buChar char="•"/>
              <a:defRPr sz="42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 Allows administrators to update campus maps and accessibility information.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Freeform 3"/>
          <p:cNvSpPr/>
          <p:nvPr/>
        </p:nvSpPr>
        <p:spPr>
          <a:xfrm>
            <a:off x="509919" y="507536"/>
            <a:ext cx="1454214" cy="148228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7" name="Freeform 4"/>
          <p:cNvSpPr/>
          <p:nvPr/>
        </p:nvSpPr>
        <p:spPr>
          <a:xfrm>
            <a:off x="16511255" y="678197"/>
            <a:ext cx="1132760" cy="131162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FUTURE SCOPE"/>
          <p:cNvSpPr txBox="1"/>
          <p:nvPr/>
        </p:nvSpPr>
        <p:spPr>
          <a:xfrm>
            <a:off x="5467311" y="844305"/>
            <a:ext cx="6471604" cy="979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lnSpc>
                <a:spcPts val="6900"/>
              </a:lnSpc>
              <a:defRPr b="1" sz="64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FUTURE SCOPE</a:t>
            </a:r>
          </a:p>
        </p:txBody>
      </p:sp>
      <p:sp>
        <p:nvSpPr>
          <p:cNvPr id="159" name="Integrate GPS for real-time user location tracking.…"/>
          <p:cNvSpPr txBox="1"/>
          <p:nvPr/>
        </p:nvSpPr>
        <p:spPr>
          <a:xfrm>
            <a:off x="570523" y="2696256"/>
            <a:ext cx="17146954" cy="6199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L="551447" indent="-551447">
              <a:lnSpc>
                <a:spcPts val="6900"/>
              </a:lnSpc>
              <a:buSzPct val="100000"/>
              <a:buChar char="•"/>
              <a:defRPr sz="51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Integrate GPS for real-time user location tracking.</a:t>
            </a:r>
          </a:p>
          <a:p>
            <a:pPr marL="551447" indent="-551447">
              <a:lnSpc>
                <a:spcPts val="6900"/>
              </a:lnSpc>
              <a:buSzPct val="100000"/>
              <a:buChar char="•"/>
              <a:defRPr sz="51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Develop a mobile application for easier access.</a:t>
            </a:r>
          </a:p>
          <a:p>
            <a:pPr marL="551447" indent="-551447">
              <a:lnSpc>
                <a:spcPts val="6900"/>
              </a:lnSpc>
              <a:buSzPct val="100000"/>
              <a:buChar char="•"/>
              <a:defRPr sz="51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Use AI to recommend suitable routes based on user preferences.</a:t>
            </a:r>
          </a:p>
          <a:p>
            <a:pPr marL="551447" indent="-551447">
              <a:lnSpc>
                <a:spcPts val="6900"/>
              </a:lnSpc>
              <a:buSzPct val="100000"/>
              <a:buChar char="•"/>
              <a:defRPr sz="51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 Add real-time updates for blocked paths and unavailable elevators.</a:t>
            </a:r>
          </a:p>
          <a:p>
            <a:pPr marL="551447" indent="-551447">
              <a:lnSpc>
                <a:spcPts val="6900"/>
              </a:lnSpc>
              <a:buSzPct val="100000"/>
              <a:buChar char="•"/>
              <a:defRPr sz="51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 Include voice guidance for visually impaired users.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TextBox 2"/>
          <p:cNvSpPr txBox="1"/>
          <p:nvPr/>
        </p:nvSpPr>
        <p:spPr>
          <a:xfrm>
            <a:off x="847329" y="873689"/>
            <a:ext cx="16593344" cy="1173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600"/>
              </a:lnSpc>
              <a:defRPr b="1" sz="68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162" name="Freeform 3"/>
          <p:cNvSpPr/>
          <p:nvPr/>
        </p:nvSpPr>
        <p:spPr>
          <a:xfrm>
            <a:off x="509919" y="507536"/>
            <a:ext cx="1849710" cy="188541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Freeform 4"/>
          <p:cNvSpPr/>
          <p:nvPr/>
        </p:nvSpPr>
        <p:spPr>
          <a:xfrm>
            <a:off x="16157988" y="678197"/>
            <a:ext cx="1486027" cy="172067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Box 5"/>
          <p:cNvSpPr txBox="1"/>
          <p:nvPr/>
        </p:nvSpPr>
        <p:spPr>
          <a:xfrm>
            <a:off x="847329" y="2766902"/>
            <a:ext cx="17225540" cy="7708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879325" indent="-439662">
              <a:lnSpc>
                <a:spcPts val="61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The proposed system provides a simple and efficient web-based solution for navigating different locations within a college campus.</a:t>
            </a:r>
          </a:p>
          <a:p>
            <a:pPr>
              <a:lnSpc>
                <a:spcPts val="6100"/>
              </a:lnSpc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79325" indent="-439662">
              <a:lnSpc>
                <a:spcPts val="61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It combines smart route planning with accessibility-aware navigation to provide suitable paths for different users.</a:t>
            </a:r>
          </a:p>
          <a:p>
            <a:pPr>
              <a:lnSpc>
                <a:spcPts val="6100"/>
              </a:lnSpc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</a:p>
          <a:p>
            <a:pPr lvl="1" marL="879325" indent="-439662">
              <a:lnSpc>
                <a:spcPts val="6100"/>
              </a:lnSpc>
              <a:buSzPct val="100000"/>
              <a:buFont typeface="Arial"/>
              <a:buChar char="•"/>
              <a:defRPr sz="40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The system can improve the campus navigation experience, accessibility, and availability of location information for students, faculty, and visitors.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2"/>
          <p:cNvSpPr txBox="1"/>
          <p:nvPr/>
        </p:nvSpPr>
        <p:spPr>
          <a:xfrm>
            <a:off x="847329" y="873689"/>
            <a:ext cx="16593344" cy="1173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ts val="9600"/>
              </a:lnSpc>
              <a:defRPr b="1" sz="68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167" name="Freeform 3"/>
          <p:cNvSpPr/>
          <p:nvPr/>
        </p:nvSpPr>
        <p:spPr>
          <a:xfrm>
            <a:off x="509919" y="507536"/>
            <a:ext cx="1849710" cy="1885417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Freeform 4"/>
          <p:cNvSpPr/>
          <p:nvPr/>
        </p:nvSpPr>
        <p:spPr>
          <a:xfrm>
            <a:off x="16157988" y="678197"/>
            <a:ext cx="1486027" cy="1720677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Box 5"/>
          <p:cNvSpPr txBox="1"/>
          <p:nvPr/>
        </p:nvSpPr>
        <p:spPr>
          <a:xfrm>
            <a:off x="531230" y="2667559"/>
            <a:ext cx="17225540" cy="69446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749789" indent="-374894">
              <a:lnSpc>
                <a:spcPts val="5500"/>
              </a:lnSpc>
              <a:buSzPct val="100000"/>
              <a:buFont typeface="Arial"/>
              <a:buChar char="•"/>
              <a:defRPr sz="34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Yang, Y., et al. (2024). Accessibility-Aware Route Planning for Pedestrians with Mobility Impairments. International Journal of Applied Earth Observation and Geoinformation.</a:t>
            </a:r>
          </a:p>
          <a:p>
            <a:pPr lvl="1" marL="749789" indent="-374894">
              <a:lnSpc>
                <a:spcPts val="5500"/>
              </a:lnSpc>
              <a:buSzPct val="100000"/>
              <a:buFont typeface="Arial"/>
              <a:buChar char="•"/>
              <a:defRPr sz="34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Herskovitz, J., et al. (2023). Accessible Routing and Navigation for People with Mobility Disabilities. ACM Transactions on Accessible Computing.</a:t>
            </a:r>
          </a:p>
          <a:p>
            <a:pPr lvl="1" marL="749789" indent="-374894">
              <a:lnSpc>
                <a:spcPts val="5500"/>
              </a:lnSpc>
              <a:buSzPct val="100000"/>
              <a:buFont typeface="Arial"/>
              <a:buChar char="•"/>
              <a:defRPr sz="34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OpenStreetMap Foundation. (2024). OpenStreetMap: Open Data for Mapping and Navigation Applications. OpenStreetMap Foundation.</a:t>
            </a:r>
          </a:p>
          <a:p>
            <a:pPr lvl="1" marL="749789" indent="-374894">
              <a:lnSpc>
                <a:spcPts val="5500"/>
              </a:lnSpc>
              <a:buSzPct val="100000"/>
              <a:buFont typeface="Arial"/>
              <a:buChar char="•"/>
              <a:defRPr sz="3400">
                <a:solidFill>
                  <a:srgbClr val="21577C"/>
                </a:solidFill>
                <a:latin typeface="Marta"/>
                <a:ea typeface="Marta"/>
                <a:cs typeface="Marta"/>
                <a:sym typeface="Marta"/>
              </a:defRPr>
            </a:pPr>
            <a:r>
              <a:t>Agafonov, A., et al. (2023). Indoor and Outdoor Navigation Using Graph-Based Route Planning. International Conference on Information and Communication Technologies.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TextBox 2"/>
          <p:cNvSpPr txBox="1"/>
          <p:nvPr/>
        </p:nvSpPr>
        <p:spPr>
          <a:xfrm>
            <a:off x="4375101" y="1554201"/>
            <a:ext cx="9537797" cy="6810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ts val="27300"/>
              </a:lnSpc>
              <a:defRPr b="1" sz="195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pPr>
            <a:r>
              <a:t>THANK </a:t>
            </a:r>
          </a:p>
          <a:p>
            <a:pPr algn="ctr">
              <a:lnSpc>
                <a:spcPts val="27300"/>
              </a:lnSpc>
              <a:defRPr b="1" sz="19500">
                <a:solidFill>
                  <a:srgbClr val="21577C"/>
                </a:solidFill>
                <a:latin typeface="Malik Bold"/>
                <a:ea typeface="Malik Bold"/>
                <a:cs typeface="Malik Bold"/>
                <a:sym typeface="Malik Bold"/>
              </a:defRPr>
            </a:pPr>
            <a:r>
              <a:t>YOU!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